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" charset="1" panose="020B0604020202020204"/>
      <p:regular r:id="rId20"/>
    </p:embeddedFont>
    <p:embeddedFont>
      <p:font typeface="Canva Sans" charset="1" panose="020B0503030501040103"/>
      <p:regular r:id="rId21"/>
    </p:embeddedFont>
    <p:embeddedFont>
      <p:font typeface="Hind" charset="1" panose="02000000000000000000"/>
      <p:regular r:id="rId24"/>
    </p:embeddedFont>
    <p:embeddedFont>
      <p:font typeface="Hind Medium" charset="1" panose="02000000000000000000"/>
      <p:regular r:id="rId26"/>
    </p:embeddedFont>
    <p:embeddedFont>
      <p:font typeface="Arimo Bold" charset="1" panose="020B0704020202020204"/>
      <p:regular r:id="rId30"/>
    </p:embeddedFont>
    <p:embeddedFont>
      <p:font typeface="Open Sans Bold" charset="1" panose="020B0806030504020204"/>
      <p:regular r:id="rId34"/>
    </p:embeddedFont>
    <p:embeddedFont>
      <p:font typeface="Open Sans" charset="1" panose="020B0606030504020204"/>
      <p:regular r:id="rId35"/>
    </p:embeddedFont>
    <p:embeddedFont>
      <p:font typeface="Canva Sans Bold" charset="1" panose="020B08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the our executive summary of our solution for Code Sprint. As previously mentioned, we are doing theme 1 to come up with an AI-Driven solution to enhance port resilience and efficiency to reinforce PSA's role as a reliable partner in global supply chain.</a:t>
            </a:r>
          </a:p>
          <a:p>
            <a:r>
              <a:rPr lang="en-US"/>
              <a:t/>
            </a:r>
          </a:p>
          <a:p>
            <a:r>
              <a:rPr lang="en-US"/>
              <a:t>The issue we are trying to solve is the issue with increased delays and longer vessel stays in our port causing chain disruptions and financial losses. </a:t>
            </a:r>
          </a:p>
          <a:p>
            <a:r>
              <a:rPr lang="en-US"/>
              <a:t/>
            </a:r>
          </a:p>
          <a:p>
            <a:r>
              <a:rPr lang="en-US"/>
              <a:t>Our solution will be shown in an UI developed in Pygame while being driven by ML models &amp; algorithms in the backend with open-source-data obtains from PSA Website &amp; Naval topology.</a:t>
            </a:r>
          </a:p>
          <a:p>
            <a:r>
              <a:rPr lang="en-US"/>
              <a:t/>
            </a:r>
          </a:p>
          <a:p>
            <a:r>
              <a:rPr lang="en-US"/>
              <a:t>This solution would help PSA by enhancing port effeciency and resilience alongside ensuring high system uptime.</a:t>
            </a:r>
          </a:p>
          <a:p>
            <a:r>
              <a:rPr lang="en-US"/>
              <a:t/>
            </a:r>
          </a:p>
          <a:p>
            <a:r>
              <a:rPr lang="en-US"/>
              <a:t>Without further a do let us delve deeper into the project.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Starting with the problem statement. </a:t>
            </a:r>
          </a:p>
          <a:p>
            <a:r>
              <a:rPr lang="en-US"/>
              <a:t/>
            </a:r>
          </a:p>
          <a:p>
            <a:r>
              <a:rPr lang="en-US"/>
              <a:t>Singapore's port has experienced significant delays with almost 90% of container vessels arriving off-schedule as of current data in 2024 compared to 77% last year.</a:t>
            </a:r>
          </a:p>
          <a:p>
            <a:r>
              <a:rPr lang="en-US"/>
              <a:t/>
            </a:r>
          </a:p>
          <a:p>
            <a:r>
              <a:rPr lang="en-US"/>
              <a:t>Vessel ports that stays at PSA also have been reported to have increased by 22% compared to last year.</a:t>
            </a:r>
          </a:p>
          <a:p>
            <a:r>
              <a:rPr lang="en-US"/>
              <a:t/>
            </a:r>
          </a:p>
          <a:p>
            <a:r>
              <a:rPr lang="en-US"/>
              <a:t>As such these disruptions will have a cascading effect on our supply chains which can lead to increased costs, inefficiencies and potential revenue losses for shareholders as such we decided to come up with a solution to tackle this.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www.globalpsa.com/global-network/#port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7825" y="1236676"/>
            <a:ext cx="15427050" cy="7813650"/>
            <a:chOff x="0" y="0"/>
            <a:chExt cx="20569400" cy="10418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69428" cy="10418191"/>
            </a:xfrm>
            <a:custGeom>
              <a:avLst/>
              <a:gdLst/>
              <a:ahLst/>
              <a:cxnLst/>
              <a:rect r="r" b="b" t="t" l="l"/>
              <a:pathLst>
                <a:path h="10418191" w="20569428">
                  <a:moveTo>
                    <a:pt x="12700" y="0"/>
                  </a:moveTo>
                  <a:lnTo>
                    <a:pt x="20556728" y="0"/>
                  </a:lnTo>
                  <a:cubicBezTo>
                    <a:pt x="20563714" y="0"/>
                    <a:pt x="20569428" y="5715"/>
                    <a:pt x="20569428" y="12700"/>
                  </a:cubicBezTo>
                  <a:lnTo>
                    <a:pt x="20569428" y="10405491"/>
                  </a:lnTo>
                  <a:cubicBezTo>
                    <a:pt x="20569428" y="10412476"/>
                    <a:pt x="20563714" y="10418191"/>
                    <a:pt x="20556728" y="10418191"/>
                  </a:cubicBezTo>
                  <a:lnTo>
                    <a:pt x="12700" y="10418191"/>
                  </a:lnTo>
                  <a:cubicBezTo>
                    <a:pt x="5715" y="10418191"/>
                    <a:pt x="0" y="10412476"/>
                    <a:pt x="0" y="1040549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0405491"/>
                  </a:lnTo>
                  <a:lnTo>
                    <a:pt x="12700" y="10405491"/>
                  </a:lnTo>
                  <a:lnTo>
                    <a:pt x="12700" y="10392791"/>
                  </a:lnTo>
                  <a:lnTo>
                    <a:pt x="20556728" y="10392791"/>
                  </a:lnTo>
                  <a:lnTo>
                    <a:pt x="20556728" y="10405491"/>
                  </a:lnTo>
                  <a:lnTo>
                    <a:pt x="20544028" y="10405491"/>
                  </a:lnTo>
                  <a:lnTo>
                    <a:pt x="20544028" y="12700"/>
                  </a:lnTo>
                  <a:lnTo>
                    <a:pt x="20556728" y="12700"/>
                  </a:lnTo>
                  <a:lnTo>
                    <a:pt x="2055672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</p:grpSp>
      <p:sp>
        <p:nvSpPr>
          <p:cNvPr name="AutoShape 5" id="5"/>
          <p:cNvSpPr/>
          <p:nvPr/>
        </p:nvSpPr>
        <p:spPr>
          <a:xfrm rot="5391618">
            <a:off x="7985013" y="5148500"/>
            <a:ext cx="7813673" cy="0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2507872" y="7173848"/>
            <a:ext cx="3832692" cy="1264794"/>
          </a:xfrm>
          <a:custGeom>
            <a:avLst/>
            <a:gdLst/>
            <a:ahLst/>
            <a:cxnLst/>
            <a:rect r="r" b="b" t="t" l="l"/>
            <a:pathLst>
              <a:path h="1264794" w="3832692">
                <a:moveTo>
                  <a:pt x="0" y="0"/>
                </a:moveTo>
                <a:lnTo>
                  <a:pt x="3832692" y="0"/>
                </a:lnTo>
                <a:lnTo>
                  <a:pt x="3832692" y="1264794"/>
                </a:lnTo>
                <a:lnTo>
                  <a:pt x="0" y="126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82325" y="1256037"/>
            <a:ext cx="4962550" cy="5293401"/>
          </a:xfrm>
          <a:custGeom>
            <a:avLst/>
            <a:gdLst/>
            <a:ahLst/>
            <a:cxnLst/>
            <a:rect r="r" b="b" t="t" l="l"/>
            <a:pathLst>
              <a:path h="5293401" w="4962550">
                <a:moveTo>
                  <a:pt x="0" y="0"/>
                </a:moveTo>
                <a:lnTo>
                  <a:pt x="4962550" y="0"/>
                </a:lnTo>
                <a:lnTo>
                  <a:pt x="4962550" y="5293401"/>
                </a:lnTo>
                <a:lnTo>
                  <a:pt x="0" y="52934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663" t="0" r="-27561" b="-214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61565" y="4210050"/>
            <a:ext cx="963855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Byte Me </a:t>
            </a:r>
          </a:p>
          <a:p>
            <a:pPr algn="l">
              <a:lnSpc>
                <a:spcPts val="7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152040" y="5106438"/>
            <a:ext cx="933545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F3D3D"/>
                </a:solidFill>
                <a:latin typeface="Canva Sans"/>
                <a:ea typeface="Canva Sans"/>
                <a:cs typeface="Canva Sans"/>
                <a:sym typeface="Canva Sans"/>
              </a:rPr>
              <a:t>Gay Ming Kai, Chin Wei Hao, Christopher Lim Wai Ming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46665" y="1419225"/>
            <a:ext cx="8134529" cy="3960267"/>
            <a:chOff x="0" y="0"/>
            <a:chExt cx="2142427" cy="10430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2428" cy="1043033"/>
            </a:xfrm>
            <a:custGeom>
              <a:avLst/>
              <a:gdLst/>
              <a:ahLst/>
              <a:cxnLst/>
              <a:rect r="r" b="b" t="t" l="l"/>
              <a:pathLst>
                <a:path h="1043033" w="2142428">
                  <a:moveTo>
                    <a:pt x="48539" y="0"/>
                  </a:moveTo>
                  <a:lnTo>
                    <a:pt x="2093889" y="0"/>
                  </a:lnTo>
                  <a:cubicBezTo>
                    <a:pt x="2120696" y="0"/>
                    <a:pt x="2142428" y="21731"/>
                    <a:pt x="2142428" y="48539"/>
                  </a:cubicBezTo>
                  <a:lnTo>
                    <a:pt x="2142428" y="994495"/>
                  </a:lnTo>
                  <a:cubicBezTo>
                    <a:pt x="2142428" y="1021302"/>
                    <a:pt x="2120696" y="1043033"/>
                    <a:pt x="2093889" y="1043033"/>
                  </a:cubicBezTo>
                  <a:lnTo>
                    <a:pt x="48539" y="1043033"/>
                  </a:lnTo>
                  <a:cubicBezTo>
                    <a:pt x="21731" y="1043033"/>
                    <a:pt x="0" y="1021302"/>
                    <a:pt x="0" y="994495"/>
                  </a:cubicBezTo>
                  <a:lnTo>
                    <a:pt x="0" y="48539"/>
                  </a:lnTo>
                  <a:cubicBezTo>
                    <a:pt x="0" y="21731"/>
                    <a:pt x="21731" y="0"/>
                    <a:pt x="48539" y="0"/>
                  </a:cubicBezTo>
                  <a:close/>
                </a:path>
              </a:pathLst>
            </a:custGeom>
            <a:solidFill>
              <a:srgbClr val="CFD9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42427" cy="1081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360150" y="1533582"/>
            <a:ext cx="410756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110168" y="1532045"/>
            <a:ext cx="354420" cy="545999"/>
          </a:xfrm>
          <a:custGeom>
            <a:avLst/>
            <a:gdLst/>
            <a:ahLst/>
            <a:cxnLst/>
            <a:rect r="r" b="b" t="t" l="l"/>
            <a:pathLst>
              <a:path h="545999" w="354420">
                <a:moveTo>
                  <a:pt x="0" y="0"/>
                </a:moveTo>
                <a:lnTo>
                  <a:pt x="354421" y="0"/>
                </a:lnTo>
                <a:lnTo>
                  <a:pt x="354421" y="545998"/>
                </a:lnTo>
                <a:lnTo>
                  <a:pt x="0" y="545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46665" y="5570506"/>
            <a:ext cx="8134529" cy="3960267"/>
            <a:chOff x="0" y="0"/>
            <a:chExt cx="1043033" cy="507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3033" cy="507797"/>
            </a:xfrm>
            <a:custGeom>
              <a:avLst/>
              <a:gdLst/>
              <a:ahLst/>
              <a:cxnLst/>
              <a:rect r="r" b="b" t="t" l="l"/>
              <a:pathLst>
                <a:path h="507797" w="1043033">
                  <a:moveTo>
                    <a:pt x="48539" y="0"/>
                  </a:moveTo>
                  <a:lnTo>
                    <a:pt x="994495" y="0"/>
                  </a:lnTo>
                  <a:cubicBezTo>
                    <a:pt x="1021302" y="0"/>
                    <a:pt x="1043033" y="21731"/>
                    <a:pt x="1043033" y="48539"/>
                  </a:cubicBezTo>
                  <a:lnTo>
                    <a:pt x="1043033" y="459259"/>
                  </a:lnTo>
                  <a:cubicBezTo>
                    <a:pt x="1043033" y="486066"/>
                    <a:pt x="1021302" y="507797"/>
                    <a:pt x="994495" y="507797"/>
                  </a:cubicBezTo>
                  <a:lnTo>
                    <a:pt x="48539" y="507797"/>
                  </a:lnTo>
                  <a:cubicBezTo>
                    <a:pt x="35665" y="507797"/>
                    <a:pt x="23319" y="502683"/>
                    <a:pt x="14217" y="493581"/>
                  </a:cubicBezTo>
                  <a:cubicBezTo>
                    <a:pt x="5114" y="484478"/>
                    <a:pt x="0" y="472132"/>
                    <a:pt x="0" y="459259"/>
                  </a:cubicBezTo>
                  <a:lnTo>
                    <a:pt x="0" y="48539"/>
                  </a:lnTo>
                  <a:cubicBezTo>
                    <a:pt x="0" y="21731"/>
                    <a:pt x="21731" y="0"/>
                    <a:pt x="48539" y="0"/>
                  </a:cubicBezTo>
                  <a:close/>
                </a:path>
              </a:pathLst>
            </a:custGeom>
            <a:solidFill>
              <a:srgbClr val="CFD9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3033" cy="545897"/>
            </a:xfrm>
            <a:prstGeom prst="rect">
              <a:avLst/>
            </a:prstGeom>
          </p:spPr>
          <p:txBody>
            <a:bodyPr anchor="ctr" rtlCol="false" tIns="104345" lIns="104345" bIns="104345" rIns="104345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570506"/>
            <a:ext cx="3960267" cy="3960267"/>
            <a:chOff x="0" y="0"/>
            <a:chExt cx="1043033" cy="10430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3033" cy="1043033"/>
            </a:xfrm>
            <a:custGeom>
              <a:avLst/>
              <a:gdLst/>
              <a:ahLst/>
              <a:cxnLst/>
              <a:rect r="r" b="b" t="t" l="l"/>
              <a:pathLst>
                <a:path h="1043033" w="1043033">
                  <a:moveTo>
                    <a:pt x="99700" y="0"/>
                  </a:moveTo>
                  <a:lnTo>
                    <a:pt x="943334" y="0"/>
                  </a:lnTo>
                  <a:cubicBezTo>
                    <a:pt x="998396" y="0"/>
                    <a:pt x="1043033" y="44637"/>
                    <a:pt x="1043033" y="99700"/>
                  </a:cubicBezTo>
                  <a:lnTo>
                    <a:pt x="1043033" y="943334"/>
                  </a:lnTo>
                  <a:cubicBezTo>
                    <a:pt x="1043033" y="998396"/>
                    <a:pt x="998396" y="1043033"/>
                    <a:pt x="943334" y="1043033"/>
                  </a:cubicBezTo>
                  <a:lnTo>
                    <a:pt x="99700" y="1043033"/>
                  </a:lnTo>
                  <a:cubicBezTo>
                    <a:pt x="44637" y="1043033"/>
                    <a:pt x="0" y="998396"/>
                    <a:pt x="0" y="943334"/>
                  </a:cubicBezTo>
                  <a:lnTo>
                    <a:pt x="0" y="99700"/>
                  </a:lnTo>
                  <a:cubicBezTo>
                    <a:pt x="0" y="44637"/>
                    <a:pt x="44637" y="0"/>
                    <a:pt x="99700" y="0"/>
                  </a:cubicBezTo>
                  <a:close/>
                </a:path>
              </a:pathLst>
            </a:custGeom>
            <a:solidFill>
              <a:srgbClr val="CFD9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43033" cy="1081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2065" y="6088651"/>
            <a:ext cx="793819" cy="7938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4330" t="0" r="-433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62065" y="7153730"/>
            <a:ext cx="793819" cy="79381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937" t="0" r="-1937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2065" y="8214250"/>
            <a:ext cx="793819" cy="79381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893394" y="5665242"/>
            <a:ext cx="787970" cy="738721"/>
          </a:xfrm>
          <a:custGeom>
            <a:avLst/>
            <a:gdLst/>
            <a:ahLst/>
            <a:cxnLst/>
            <a:rect r="r" b="b" t="t" l="l"/>
            <a:pathLst>
              <a:path h="738721" w="787970">
                <a:moveTo>
                  <a:pt x="0" y="0"/>
                </a:moveTo>
                <a:lnTo>
                  <a:pt x="787969" y="0"/>
                </a:lnTo>
                <a:lnTo>
                  <a:pt x="787969" y="738722"/>
                </a:lnTo>
                <a:lnTo>
                  <a:pt x="0" y="7387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551943" y="7650764"/>
            <a:ext cx="552247" cy="409353"/>
          </a:xfrm>
          <a:custGeom>
            <a:avLst/>
            <a:gdLst/>
            <a:ahLst/>
            <a:cxnLst/>
            <a:rect r="r" b="b" t="t" l="l"/>
            <a:pathLst>
              <a:path h="409353" w="552247">
                <a:moveTo>
                  <a:pt x="0" y="0"/>
                </a:moveTo>
                <a:lnTo>
                  <a:pt x="552246" y="0"/>
                </a:lnTo>
                <a:lnTo>
                  <a:pt x="552246" y="409352"/>
                </a:lnTo>
                <a:lnTo>
                  <a:pt x="0" y="409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551943" y="6802287"/>
            <a:ext cx="547012" cy="578849"/>
          </a:xfrm>
          <a:custGeom>
            <a:avLst/>
            <a:gdLst/>
            <a:ahLst/>
            <a:cxnLst/>
            <a:rect r="r" b="b" t="t" l="l"/>
            <a:pathLst>
              <a:path h="578849" w="547012">
                <a:moveTo>
                  <a:pt x="0" y="0"/>
                </a:moveTo>
                <a:lnTo>
                  <a:pt x="547012" y="0"/>
                </a:lnTo>
                <a:lnTo>
                  <a:pt x="547012" y="578848"/>
                </a:lnTo>
                <a:lnTo>
                  <a:pt x="0" y="5788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600521" y="8306359"/>
            <a:ext cx="455089" cy="545834"/>
          </a:xfrm>
          <a:custGeom>
            <a:avLst/>
            <a:gdLst/>
            <a:ahLst/>
            <a:cxnLst/>
            <a:rect r="r" b="b" t="t" l="l"/>
            <a:pathLst>
              <a:path h="545834" w="455089">
                <a:moveTo>
                  <a:pt x="0" y="0"/>
                </a:moveTo>
                <a:lnTo>
                  <a:pt x="455090" y="0"/>
                </a:lnTo>
                <a:lnTo>
                  <a:pt x="455090" y="545835"/>
                </a:lnTo>
                <a:lnTo>
                  <a:pt x="0" y="5458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28700" y="1419225"/>
            <a:ext cx="3960267" cy="3960267"/>
            <a:chOff x="0" y="0"/>
            <a:chExt cx="1043033" cy="10430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3033" cy="1043033"/>
            </a:xfrm>
            <a:custGeom>
              <a:avLst/>
              <a:gdLst/>
              <a:ahLst/>
              <a:cxnLst/>
              <a:rect r="r" b="b" t="t" l="l"/>
              <a:pathLst>
                <a:path h="1043033" w="1043033">
                  <a:moveTo>
                    <a:pt x="99700" y="0"/>
                  </a:moveTo>
                  <a:lnTo>
                    <a:pt x="943334" y="0"/>
                  </a:lnTo>
                  <a:cubicBezTo>
                    <a:pt x="998396" y="0"/>
                    <a:pt x="1043033" y="44637"/>
                    <a:pt x="1043033" y="99700"/>
                  </a:cubicBezTo>
                  <a:lnTo>
                    <a:pt x="1043033" y="943334"/>
                  </a:lnTo>
                  <a:cubicBezTo>
                    <a:pt x="1043033" y="998396"/>
                    <a:pt x="998396" y="1043033"/>
                    <a:pt x="943334" y="1043033"/>
                  </a:cubicBezTo>
                  <a:lnTo>
                    <a:pt x="99700" y="1043033"/>
                  </a:lnTo>
                  <a:cubicBezTo>
                    <a:pt x="44637" y="1043033"/>
                    <a:pt x="0" y="998396"/>
                    <a:pt x="0" y="943334"/>
                  </a:cubicBezTo>
                  <a:lnTo>
                    <a:pt x="0" y="99700"/>
                  </a:lnTo>
                  <a:cubicBezTo>
                    <a:pt x="0" y="44637"/>
                    <a:pt x="44637" y="0"/>
                    <a:pt x="99700" y="0"/>
                  </a:cubicBezTo>
                  <a:close/>
                </a:path>
              </a:pathLst>
            </a:custGeom>
            <a:solidFill>
              <a:srgbClr val="CFD9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43033" cy="1081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545699" y="1464249"/>
            <a:ext cx="662952" cy="681589"/>
          </a:xfrm>
          <a:custGeom>
            <a:avLst/>
            <a:gdLst/>
            <a:ahLst/>
            <a:cxnLst/>
            <a:rect r="r" b="b" t="t" l="l"/>
            <a:pathLst>
              <a:path h="681589" w="662952">
                <a:moveTo>
                  <a:pt x="0" y="0"/>
                </a:moveTo>
                <a:lnTo>
                  <a:pt x="662952" y="0"/>
                </a:lnTo>
                <a:lnTo>
                  <a:pt x="662952" y="681590"/>
                </a:lnTo>
                <a:lnTo>
                  <a:pt x="0" y="68159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3843145" y="1419225"/>
            <a:ext cx="3960267" cy="8111549"/>
            <a:chOff x="0" y="0"/>
            <a:chExt cx="1043033" cy="21363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3033" cy="2136375"/>
            </a:xfrm>
            <a:custGeom>
              <a:avLst/>
              <a:gdLst/>
              <a:ahLst/>
              <a:cxnLst/>
              <a:rect r="r" b="b" t="t" l="l"/>
              <a:pathLst>
                <a:path h="2136375" w="1043033">
                  <a:moveTo>
                    <a:pt x="99700" y="0"/>
                  </a:moveTo>
                  <a:lnTo>
                    <a:pt x="943334" y="0"/>
                  </a:lnTo>
                  <a:cubicBezTo>
                    <a:pt x="998396" y="0"/>
                    <a:pt x="1043033" y="44637"/>
                    <a:pt x="1043033" y="99700"/>
                  </a:cubicBezTo>
                  <a:lnTo>
                    <a:pt x="1043033" y="2036675"/>
                  </a:lnTo>
                  <a:cubicBezTo>
                    <a:pt x="1043033" y="2091738"/>
                    <a:pt x="998396" y="2136375"/>
                    <a:pt x="943334" y="2136375"/>
                  </a:cubicBezTo>
                  <a:lnTo>
                    <a:pt x="99700" y="2136375"/>
                  </a:lnTo>
                  <a:cubicBezTo>
                    <a:pt x="44637" y="2136375"/>
                    <a:pt x="0" y="2091738"/>
                    <a:pt x="0" y="2036675"/>
                  </a:cubicBezTo>
                  <a:lnTo>
                    <a:pt x="0" y="99700"/>
                  </a:lnTo>
                  <a:cubicBezTo>
                    <a:pt x="0" y="44637"/>
                    <a:pt x="44637" y="0"/>
                    <a:pt x="99700" y="0"/>
                  </a:cubicBezTo>
                  <a:close/>
                </a:path>
              </a:pathLst>
            </a:custGeom>
            <a:solidFill>
              <a:srgbClr val="CFD9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43033" cy="217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4119370" y="1569527"/>
            <a:ext cx="774272" cy="600060"/>
          </a:xfrm>
          <a:custGeom>
            <a:avLst/>
            <a:gdLst/>
            <a:ahLst/>
            <a:cxnLst/>
            <a:rect r="r" b="b" t="t" l="l"/>
            <a:pathLst>
              <a:path h="600060" w="774272">
                <a:moveTo>
                  <a:pt x="0" y="0"/>
                </a:moveTo>
                <a:lnTo>
                  <a:pt x="774271" y="0"/>
                </a:lnTo>
                <a:lnTo>
                  <a:pt x="774271" y="600060"/>
                </a:lnTo>
                <a:lnTo>
                  <a:pt x="0" y="60006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636640" y="2430263"/>
            <a:ext cx="7554580" cy="290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24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Singapore's port is experiencing increased delays and longer vessel stays, causing supply chain disruptions and potential financial losses.</a:t>
            </a:r>
          </a:p>
          <a:p>
            <a:pPr algn="ctr">
              <a:lnSpc>
                <a:spcPts val="2922"/>
              </a:lnSpc>
            </a:pPr>
          </a:p>
          <a:p>
            <a:pPr algn="ctr">
              <a:lnSpc>
                <a:spcPts val="2922"/>
              </a:lnSpc>
            </a:pPr>
          </a:p>
          <a:p>
            <a:pPr algn="ctr">
              <a:lnSpc>
                <a:spcPts val="2922"/>
              </a:lnSpc>
            </a:pPr>
          </a:p>
          <a:p>
            <a:pPr algn="ctr">
              <a:lnSpc>
                <a:spcPts val="2922"/>
              </a:lnSpc>
            </a:pPr>
          </a:p>
          <a:p>
            <a:pPr algn="ctr">
              <a:lnSpc>
                <a:spcPts val="2922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4322638" y="361950"/>
            <a:ext cx="964272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Byte Me’s Executive Summary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08651" y="1679057"/>
            <a:ext cx="24997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Theme 1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2543" y="2430263"/>
            <a:ext cx="3892581" cy="2801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20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 AI-driven solution to enhance port resilience and efficiency, reinforcing PSA’s role as a reliable partner in global supply chain amidst increasing volatility.</a:t>
            </a:r>
          </a:p>
          <a:p>
            <a:pPr algn="ctr">
              <a:lnSpc>
                <a:spcPts val="2442"/>
              </a:lnSpc>
            </a:pPr>
          </a:p>
          <a:p>
            <a:pPr algn="ctr">
              <a:lnSpc>
                <a:spcPts val="2442"/>
              </a:lnSpc>
            </a:pPr>
          </a:p>
          <a:p>
            <a:pPr algn="ctr">
              <a:lnSpc>
                <a:spcPts val="2442"/>
              </a:lnSpc>
            </a:pPr>
          </a:p>
          <a:p>
            <a:pPr algn="ctr">
              <a:lnSpc>
                <a:spcPts val="2442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7287378" y="5717176"/>
            <a:ext cx="42531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Solution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758975" y="5726701"/>
            <a:ext cx="24997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 Team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43718" y="6297006"/>
            <a:ext cx="1113698" cy="3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4"/>
              </a:lnSpc>
              <a:spcBef>
                <a:spcPct val="0"/>
              </a:spcBef>
            </a:pPr>
            <a:r>
              <a:rPr lang="en-US" sz="22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Ming Kai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651752" y="7362085"/>
            <a:ext cx="1097631" cy="3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4"/>
              </a:lnSpc>
              <a:spcBef>
                <a:spcPct val="0"/>
              </a:spcBef>
            </a:pPr>
            <a:r>
              <a:rPr lang="en-US" sz="22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Wei Hao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866590" y="8424995"/>
            <a:ext cx="667954" cy="35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4"/>
              </a:lnSpc>
              <a:spcBef>
                <a:spcPct val="0"/>
              </a:spcBef>
            </a:pPr>
            <a:r>
              <a:rPr lang="en-US" sz="225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Chris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681363" y="6762010"/>
            <a:ext cx="5384771" cy="61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 UI developed in Pygame to showcase the algorithm developed for route planning.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681363" y="7541115"/>
            <a:ext cx="5384771" cy="61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 models &amp; algorithms to predict the route and the congestion of the ports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81363" y="8296834"/>
            <a:ext cx="5384771" cy="61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  <a:spcBef>
                <a:spcPct val="0"/>
              </a:spcBef>
            </a:pPr>
            <a:r>
              <a:rPr lang="en-US" sz="20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Open source-data from PSA website &amp; naval topology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219344" y="6909648"/>
            <a:ext cx="124524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Front End: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234078" y="7688752"/>
            <a:ext cx="121577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Back End: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91378" y="8469802"/>
            <a:ext cx="63758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023096" y="1679057"/>
            <a:ext cx="249971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Relevancy to PSA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021991" y="3354976"/>
            <a:ext cx="3602574" cy="287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6702" indent="-203351" lvl="1">
              <a:lnSpc>
                <a:spcPts val="2260"/>
              </a:lnSpc>
              <a:buFont typeface="Arial"/>
              <a:buChar char="•"/>
            </a:pPr>
            <a:r>
              <a:rPr lang="en-US" sz="18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Enhance port effiency</a:t>
            </a:r>
          </a:p>
          <a:p>
            <a:pPr algn="l" marL="406702" indent="-203351" lvl="1">
              <a:lnSpc>
                <a:spcPts val="2260"/>
              </a:lnSpc>
              <a:buFont typeface="Arial"/>
              <a:buChar char="•"/>
            </a:pPr>
            <a:r>
              <a:rPr lang="en-US" sz="18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Enhance port resilience</a:t>
            </a:r>
          </a:p>
          <a:p>
            <a:pPr algn="l" marL="406702" indent="-203351" lvl="1">
              <a:lnSpc>
                <a:spcPts val="2260"/>
              </a:lnSpc>
              <a:buFont typeface="Arial"/>
              <a:buChar char="•"/>
            </a:pPr>
            <a:r>
              <a:rPr lang="en-US" sz="18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Ensure high system uptime</a:t>
            </a:r>
          </a:p>
          <a:p>
            <a:pPr algn="l" marL="406702" indent="-203351" lvl="1">
              <a:lnSpc>
                <a:spcPts val="2260"/>
              </a:lnSpc>
              <a:buFont typeface="Arial"/>
              <a:buChar char="•"/>
            </a:pPr>
            <a:r>
              <a:rPr lang="en-US" sz="18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 the rare event of system downtime</a:t>
            </a:r>
          </a:p>
          <a:p>
            <a:pPr algn="l" marL="813404" indent="-271135" lvl="2">
              <a:lnSpc>
                <a:spcPts val="2260"/>
              </a:lnSpc>
              <a:buFont typeface="Arial"/>
              <a:buChar char="⚬"/>
            </a:pPr>
            <a:r>
              <a:rPr lang="en-US" sz="18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PSA Operation remain unaffected</a:t>
            </a:r>
          </a:p>
          <a:p>
            <a:pPr algn="l" marL="813404" indent="-271135" lvl="2">
              <a:lnSpc>
                <a:spcPts val="2260"/>
              </a:lnSpc>
              <a:buFont typeface="Arial"/>
              <a:buChar char="⚬"/>
            </a:pPr>
            <a:r>
              <a:rPr lang="en-US" sz="18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Contingency plans ensure functionality without disruption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2425" y="878775"/>
            <a:ext cx="16403250" cy="8528850"/>
            <a:chOff x="0" y="0"/>
            <a:chExt cx="21871000" cy="1137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1051" cy="11371834"/>
            </a:xfrm>
            <a:custGeom>
              <a:avLst/>
              <a:gdLst/>
              <a:ahLst/>
              <a:cxnLst/>
              <a:rect r="r" b="b" t="t" l="l"/>
              <a:pathLst>
                <a:path h="11371834" w="21871051">
                  <a:moveTo>
                    <a:pt x="12700" y="0"/>
                  </a:moveTo>
                  <a:lnTo>
                    <a:pt x="21858351" y="0"/>
                  </a:lnTo>
                  <a:cubicBezTo>
                    <a:pt x="21865337" y="0"/>
                    <a:pt x="21871051" y="5715"/>
                    <a:pt x="21871051" y="12700"/>
                  </a:cubicBezTo>
                  <a:lnTo>
                    <a:pt x="21871051" y="11359134"/>
                  </a:lnTo>
                  <a:cubicBezTo>
                    <a:pt x="21871051" y="11366119"/>
                    <a:pt x="21865337" y="11371834"/>
                    <a:pt x="21858351" y="11371834"/>
                  </a:cubicBezTo>
                  <a:lnTo>
                    <a:pt x="12700" y="11371834"/>
                  </a:lnTo>
                  <a:cubicBezTo>
                    <a:pt x="5715" y="11371834"/>
                    <a:pt x="0" y="11366119"/>
                    <a:pt x="0" y="1135913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359134"/>
                  </a:lnTo>
                  <a:lnTo>
                    <a:pt x="12700" y="11359134"/>
                  </a:lnTo>
                  <a:lnTo>
                    <a:pt x="12700" y="11346434"/>
                  </a:lnTo>
                  <a:lnTo>
                    <a:pt x="21858351" y="11346434"/>
                  </a:lnTo>
                  <a:lnTo>
                    <a:pt x="21858351" y="11359134"/>
                  </a:lnTo>
                  <a:lnTo>
                    <a:pt x="21845651" y="11359134"/>
                  </a:lnTo>
                  <a:lnTo>
                    <a:pt x="21845651" y="12700"/>
                  </a:lnTo>
                  <a:lnTo>
                    <a:pt x="21858351" y="12700"/>
                  </a:lnTo>
                  <a:lnTo>
                    <a:pt x="2185835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155134" y="3719611"/>
            <a:ext cx="5826659" cy="2847779"/>
          </a:xfrm>
          <a:custGeom>
            <a:avLst/>
            <a:gdLst/>
            <a:ahLst/>
            <a:cxnLst/>
            <a:rect r="r" b="b" t="t" l="l"/>
            <a:pathLst>
              <a:path h="2847779" w="5826659">
                <a:moveTo>
                  <a:pt x="0" y="0"/>
                </a:moveTo>
                <a:lnTo>
                  <a:pt x="5826659" y="0"/>
                </a:lnTo>
                <a:lnTo>
                  <a:pt x="5826659" y="2847780"/>
                </a:lnTo>
                <a:lnTo>
                  <a:pt x="0" y="2847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34100" y="976975"/>
            <a:ext cx="162204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01. Problem</a:t>
            </a: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64325" y="2860109"/>
            <a:ext cx="792015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F3D3D"/>
                </a:solidFill>
                <a:latin typeface="Hind"/>
                <a:ea typeface="Hind"/>
                <a:cs typeface="Hind"/>
                <a:sym typeface="Hind"/>
              </a:rPr>
              <a:t>Singapore’s port has experienced significant delays, with 90% of container vessels arriving off-schedule, compared to an average of about 77% in 2023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4325" y="4514851"/>
            <a:ext cx="79201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F3D3D"/>
                </a:solidFill>
                <a:latin typeface="Hind"/>
                <a:ea typeface="Hind"/>
                <a:cs typeface="Hind"/>
                <a:sym typeface="Hind"/>
              </a:rPr>
              <a:t>Vessel port stays at PSA have also increased by 22% compared to the same period last year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4325" y="5753101"/>
            <a:ext cx="792015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3F3D3D"/>
                </a:solidFill>
                <a:latin typeface="Hind"/>
                <a:ea typeface="Hind"/>
                <a:cs typeface="Hind"/>
                <a:sym typeface="Hind"/>
              </a:rPr>
              <a:t>These disruptions have a cascading effect on our supply chains which can lead to increased costs, inefficiencies and potential revenue losses for shareholders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2425" y="878775"/>
            <a:ext cx="16403250" cy="8528850"/>
            <a:chOff x="0" y="0"/>
            <a:chExt cx="21871000" cy="1137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1051" cy="11371834"/>
            </a:xfrm>
            <a:custGeom>
              <a:avLst/>
              <a:gdLst/>
              <a:ahLst/>
              <a:cxnLst/>
              <a:rect r="r" b="b" t="t" l="l"/>
              <a:pathLst>
                <a:path h="11371834" w="21871051">
                  <a:moveTo>
                    <a:pt x="12700" y="0"/>
                  </a:moveTo>
                  <a:lnTo>
                    <a:pt x="21858351" y="0"/>
                  </a:lnTo>
                  <a:cubicBezTo>
                    <a:pt x="21865337" y="0"/>
                    <a:pt x="21871051" y="5715"/>
                    <a:pt x="21871051" y="12700"/>
                  </a:cubicBezTo>
                  <a:lnTo>
                    <a:pt x="21871051" y="11359134"/>
                  </a:lnTo>
                  <a:cubicBezTo>
                    <a:pt x="21871051" y="11366119"/>
                    <a:pt x="21865337" y="11371834"/>
                    <a:pt x="21858351" y="11371834"/>
                  </a:cubicBezTo>
                  <a:lnTo>
                    <a:pt x="12700" y="11371834"/>
                  </a:lnTo>
                  <a:cubicBezTo>
                    <a:pt x="5715" y="11371834"/>
                    <a:pt x="0" y="11366119"/>
                    <a:pt x="0" y="1135913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359134"/>
                  </a:lnTo>
                  <a:lnTo>
                    <a:pt x="12700" y="11359134"/>
                  </a:lnTo>
                  <a:lnTo>
                    <a:pt x="12700" y="11346434"/>
                  </a:lnTo>
                  <a:lnTo>
                    <a:pt x="21858351" y="11346434"/>
                  </a:lnTo>
                  <a:lnTo>
                    <a:pt x="21858351" y="11359134"/>
                  </a:lnTo>
                  <a:lnTo>
                    <a:pt x="21845651" y="11359134"/>
                  </a:lnTo>
                  <a:lnTo>
                    <a:pt x="21845651" y="12700"/>
                  </a:lnTo>
                  <a:lnTo>
                    <a:pt x="21858351" y="12700"/>
                  </a:lnTo>
                  <a:lnTo>
                    <a:pt x="2185835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432605" y="3353617"/>
            <a:ext cx="1614405" cy="1789884"/>
          </a:xfrm>
          <a:custGeom>
            <a:avLst/>
            <a:gdLst/>
            <a:ahLst/>
            <a:cxnLst/>
            <a:rect r="r" b="b" t="t" l="l"/>
            <a:pathLst>
              <a:path h="1789884" w="1614405">
                <a:moveTo>
                  <a:pt x="0" y="0"/>
                </a:moveTo>
                <a:lnTo>
                  <a:pt x="1614406" y="0"/>
                </a:lnTo>
                <a:lnTo>
                  <a:pt x="1614406" y="1789884"/>
                </a:lnTo>
                <a:lnTo>
                  <a:pt x="0" y="17898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4378" y="3556561"/>
            <a:ext cx="1586639" cy="1586639"/>
          </a:xfrm>
          <a:custGeom>
            <a:avLst/>
            <a:gdLst/>
            <a:ahLst/>
            <a:cxnLst/>
            <a:rect r="r" b="b" t="t" l="l"/>
            <a:pathLst>
              <a:path h="1586639" w="1586639">
                <a:moveTo>
                  <a:pt x="0" y="0"/>
                </a:moveTo>
                <a:lnTo>
                  <a:pt x="1586640" y="0"/>
                </a:lnTo>
                <a:lnTo>
                  <a:pt x="1586640" y="1586639"/>
                </a:lnTo>
                <a:lnTo>
                  <a:pt x="0" y="15866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5288" y="1009650"/>
            <a:ext cx="162204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Problem vs.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3398" y="5702025"/>
            <a:ext cx="802860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25488" y="5558400"/>
            <a:ext cx="8028600" cy="97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24533" y="7022925"/>
            <a:ext cx="5030550" cy="167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An algorithm which suggest container management using other ports for effective resource utilization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60025" y="7022925"/>
            <a:ext cx="503055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Vessels that come off schedule due to increase in demand and container re-handling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2675" y="879076"/>
            <a:ext cx="16403250" cy="8528850"/>
            <a:chOff x="0" y="0"/>
            <a:chExt cx="21871000" cy="1137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1051" cy="11371834"/>
            </a:xfrm>
            <a:custGeom>
              <a:avLst/>
              <a:gdLst/>
              <a:ahLst/>
              <a:cxnLst/>
              <a:rect r="r" b="b" t="t" l="l"/>
              <a:pathLst>
                <a:path h="11371834" w="21871051">
                  <a:moveTo>
                    <a:pt x="12700" y="0"/>
                  </a:moveTo>
                  <a:lnTo>
                    <a:pt x="21858351" y="0"/>
                  </a:lnTo>
                  <a:cubicBezTo>
                    <a:pt x="21865337" y="0"/>
                    <a:pt x="21871051" y="5715"/>
                    <a:pt x="21871051" y="12700"/>
                  </a:cubicBezTo>
                  <a:lnTo>
                    <a:pt x="21871051" y="11359134"/>
                  </a:lnTo>
                  <a:cubicBezTo>
                    <a:pt x="21871051" y="11366119"/>
                    <a:pt x="21865337" y="11371834"/>
                    <a:pt x="21858351" y="11371834"/>
                  </a:cubicBezTo>
                  <a:lnTo>
                    <a:pt x="12700" y="11371834"/>
                  </a:lnTo>
                  <a:cubicBezTo>
                    <a:pt x="5715" y="11371834"/>
                    <a:pt x="0" y="11366119"/>
                    <a:pt x="0" y="1135913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359134"/>
                  </a:lnTo>
                  <a:lnTo>
                    <a:pt x="12700" y="11359134"/>
                  </a:lnTo>
                  <a:lnTo>
                    <a:pt x="12700" y="11346434"/>
                  </a:lnTo>
                  <a:lnTo>
                    <a:pt x="21858351" y="11346434"/>
                  </a:lnTo>
                  <a:lnTo>
                    <a:pt x="21858351" y="11359134"/>
                  </a:lnTo>
                  <a:lnTo>
                    <a:pt x="21845651" y="11359134"/>
                  </a:lnTo>
                  <a:lnTo>
                    <a:pt x="21845651" y="12700"/>
                  </a:lnTo>
                  <a:lnTo>
                    <a:pt x="21858351" y="12700"/>
                  </a:lnTo>
                  <a:lnTo>
                    <a:pt x="2185835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447504" y="3776166"/>
            <a:ext cx="7392816" cy="3939944"/>
          </a:xfrm>
          <a:custGeom>
            <a:avLst/>
            <a:gdLst/>
            <a:ahLst/>
            <a:cxnLst/>
            <a:rect r="r" b="b" t="t" l="l"/>
            <a:pathLst>
              <a:path h="3939944" w="7392816">
                <a:moveTo>
                  <a:pt x="0" y="0"/>
                </a:moveTo>
                <a:lnTo>
                  <a:pt x="7392816" y="0"/>
                </a:lnTo>
                <a:lnTo>
                  <a:pt x="7392816" y="3939944"/>
                </a:lnTo>
                <a:lnTo>
                  <a:pt x="0" y="3939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56055" y="3264050"/>
            <a:ext cx="265047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Connectivity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6055" y="3871437"/>
            <a:ext cx="37423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PSA has established itself all over the world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312425" y="3185616"/>
            <a:ext cx="2443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Reliabitity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6591" y="3776166"/>
            <a:ext cx="4489784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PSA maintains delays through automation and AI-driven optimization.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100" y="6588050"/>
            <a:ext cx="454682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Multimodal Services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12425" y="6588050"/>
            <a:ext cx="24439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Resilience</a:t>
            </a:r>
          </a:p>
        </p:txBody>
      </p:sp>
      <p:sp>
        <p:nvSpPr>
          <p:cNvPr name="AutoShape 12" id="12"/>
          <p:cNvSpPr/>
          <p:nvPr/>
        </p:nvSpPr>
        <p:spPr>
          <a:xfrm>
            <a:off x="3906532" y="3568850"/>
            <a:ext cx="2593793" cy="721688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5447504" y="6381287"/>
            <a:ext cx="1629010" cy="511563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4" id="14"/>
          <p:cNvSpPr/>
          <p:nvPr/>
        </p:nvSpPr>
        <p:spPr>
          <a:xfrm flipH="true">
            <a:off x="10601875" y="3490416"/>
            <a:ext cx="3710550" cy="713721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11384268" y="6108253"/>
            <a:ext cx="2928157" cy="784597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16" id="16"/>
          <p:cNvSpPr txBox="true"/>
          <p:nvPr/>
        </p:nvSpPr>
        <p:spPr>
          <a:xfrm rot="0">
            <a:off x="1034100" y="976975"/>
            <a:ext cx="162204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PSA Network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4100" y="7380061"/>
            <a:ext cx="441340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PSA uses multiple modes of transportation and channels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00970" y="7178600"/>
            <a:ext cx="415540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Node-To-Network enhances the flexibility of their global port network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0" y="-2540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2425" y="878775"/>
            <a:ext cx="16403250" cy="8528850"/>
            <a:chOff x="0" y="0"/>
            <a:chExt cx="21871000" cy="1137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1051" cy="11371834"/>
            </a:xfrm>
            <a:custGeom>
              <a:avLst/>
              <a:gdLst/>
              <a:ahLst/>
              <a:cxnLst/>
              <a:rect r="r" b="b" t="t" l="l"/>
              <a:pathLst>
                <a:path h="11371834" w="21871051">
                  <a:moveTo>
                    <a:pt x="12700" y="0"/>
                  </a:moveTo>
                  <a:lnTo>
                    <a:pt x="21858351" y="0"/>
                  </a:lnTo>
                  <a:cubicBezTo>
                    <a:pt x="21865337" y="0"/>
                    <a:pt x="21871051" y="5715"/>
                    <a:pt x="21871051" y="12700"/>
                  </a:cubicBezTo>
                  <a:lnTo>
                    <a:pt x="21871051" y="11359134"/>
                  </a:lnTo>
                  <a:cubicBezTo>
                    <a:pt x="21871051" y="11366119"/>
                    <a:pt x="21865337" y="11371834"/>
                    <a:pt x="21858351" y="11371834"/>
                  </a:cubicBezTo>
                  <a:lnTo>
                    <a:pt x="12700" y="11371834"/>
                  </a:lnTo>
                  <a:cubicBezTo>
                    <a:pt x="5715" y="11371834"/>
                    <a:pt x="0" y="11366119"/>
                    <a:pt x="0" y="1135913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359134"/>
                  </a:lnTo>
                  <a:lnTo>
                    <a:pt x="12700" y="11359134"/>
                  </a:lnTo>
                  <a:lnTo>
                    <a:pt x="12700" y="11346434"/>
                  </a:lnTo>
                  <a:lnTo>
                    <a:pt x="21858351" y="11346434"/>
                  </a:lnTo>
                  <a:lnTo>
                    <a:pt x="21858351" y="11359134"/>
                  </a:lnTo>
                  <a:lnTo>
                    <a:pt x="21845651" y="11359134"/>
                  </a:lnTo>
                  <a:lnTo>
                    <a:pt x="21845651" y="12700"/>
                  </a:lnTo>
                  <a:lnTo>
                    <a:pt x="21858351" y="12700"/>
                  </a:lnTo>
                  <a:lnTo>
                    <a:pt x="2185835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391751" y="2831265"/>
            <a:ext cx="1658850" cy="1596450"/>
            <a:chOff x="0" y="0"/>
            <a:chExt cx="2211800" cy="2128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1832" cy="2128647"/>
            </a:xfrm>
            <a:custGeom>
              <a:avLst/>
              <a:gdLst/>
              <a:ahLst/>
              <a:cxnLst/>
              <a:rect r="r" b="b" t="t" l="l"/>
              <a:pathLst>
                <a:path h="2128647" w="2211832">
                  <a:moveTo>
                    <a:pt x="12700" y="0"/>
                  </a:moveTo>
                  <a:lnTo>
                    <a:pt x="2199132" y="0"/>
                  </a:lnTo>
                  <a:cubicBezTo>
                    <a:pt x="2206117" y="0"/>
                    <a:pt x="2211832" y="5715"/>
                    <a:pt x="2211832" y="12700"/>
                  </a:cubicBezTo>
                  <a:lnTo>
                    <a:pt x="2211832" y="2115947"/>
                  </a:lnTo>
                  <a:cubicBezTo>
                    <a:pt x="2211832" y="2122932"/>
                    <a:pt x="2206117" y="2128647"/>
                    <a:pt x="2199132" y="2128647"/>
                  </a:cubicBezTo>
                  <a:lnTo>
                    <a:pt x="12700" y="2128647"/>
                  </a:lnTo>
                  <a:cubicBezTo>
                    <a:pt x="5715" y="2128647"/>
                    <a:pt x="0" y="2122932"/>
                    <a:pt x="0" y="211594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947"/>
                  </a:lnTo>
                  <a:lnTo>
                    <a:pt x="12700" y="2115947"/>
                  </a:lnTo>
                  <a:lnTo>
                    <a:pt x="12700" y="2103247"/>
                  </a:lnTo>
                  <a:lnTo>
                    <a:pt x="2199132" y="2103247"/>
                  </a:lnTo>
                  <a:lnTo>
                    <a:pt x="2199132" y="2115947"/>
                  </a:lnTo>
                  <a:lnTo>
                    <a:pt x="2186432" y="2115947"/>
                  </a:lnTo>
                  <a:lnTo>
                    <a:pt x="2186432" y="12700"/>
                  </a:lnTo>
                  <a:lnTo>
                    <a:pt x="2199132" y="12700"/>
                  </a:lnTo>
                  <a:lnTo>
                    <a:pt x="219913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211800" cy="2147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3F3D3D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4031512" y="3629490"/>
            <a:ext cx="2327928" cy="9525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6340301" y="2831265"/>
            <a:ext cx="1658850" cy="1596450"/>
            <a:chOff x="0" y="0"/>
            <a:chExt cx="2211800" cy="2128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1832" cy="2128647"/>
            </a:xfrm>
            <a:custGeom>
              <a:avLst/>
              <a:gdLst/>
              <a:ahLst/>
              <a:cxnLst/>
              <a:rect r="r" b="b" t="t" l="l"/>
              <a:pathLst>
                <a:path h="2128647" w="2211832">
                  <a:moveTo>
                    <a:pt x="12700" y="0"/>
                  </a:moveTo>
                  <a:lnTo>
                    <a:pt x="2199132" y="0"/>
                  </a:lnTo>
                  <a:cubicBezTo>
                    <a:pt x="2206117" y="0"/>
                    <a:pt x="2211832" y="5715"/>
                    <a:pt x="2211832" y="12700"/>
                  </a:cubicBezTo>
                  <a:lnTo>
                    <a:pt x="2211832" y="2115947"/>
                  </a:lnTo>
                  <a:cubicBezTo>
                    <a:pt x="2211832" y="2122932"/>
                    <a:pt x="2206117" y="2128647"/>
                    <a:pt x="2199132" y="2128647"/>
                  </a:cubicBezTo>
                  <a:lnTo>
                    <a:pt x="12700" y="2128647"/>
                  </a:lnTo>
                  <a:cubicBezTo>
                    <a:pt x="5715" y="2128647"/>
                    <a:pt x="0" y="2122932"/>
                    <a:pt x="0" y="211594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947"/>
                  </a:lnTo>
                  <a:lnTo>
                    <a:pt x="12700" y="2115947"/>
                  </a:lnTo>
                  <a:lnTo>
                    <a:pt x="12700" y="2103247"/>
                  </a:lnTo>
                  <a:lnTo>
                    <a:pt x="2199132" y="2103247"/>
                  </a:lnTo>
                  <a:lnTo>
                    <a:pt x="2199132" y="2115947"/>
                  </a:lnTo>
                  <a:lnTo>
                    <a:pt x="2186432" y="2115947"/>
                  </a:lnTo>
                  <a:lnTo>
                    <a:pt x="2186432" y="12700"/>
                  </a:lnTo>
                  <a:lnTo>
                    <a:pt x="2199132" y="12700"/>
                  </a:lnTo>
                  <a:lnTo>
                    <a:pt x="219913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2211800" cy="2147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3F3D3D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8851" y="2831265"/>
            <a:ext cx="1658850" cy="1596450"/>
            <a:chOff x="0" y="0"/>
            <a:chExt cx="2211800" cy="2128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11832" cy="2128647"/>
            </a:xfrm>
            <a:custGeom>
              <a:avLst/>
              <a:gdLst/>
              <a:ahLst/>
              <a:cxnLst/>
              <a:rect r="r" b="b" t="t" l="l"/>
              <a:pathLst>
                <a:path h="2128647" w="2211832">
                  <a:moveTo>
                    <a:pt x="12700" y="0"/>
                  </a:moveTo>
                  <a:lnTo>
                    <a:pt x="2199132" y="0"/>
                  </a:lnTo>
                  <a:cubicBezTo>
                    <a:pt x="2206117" y="0"/>
                    <a:pt x="2211832" y="5715"/>
                    <a:pt x="2211832" y="12700"/>
                  </a:cubicBezTo>
                  <a:lnTo>
                    <a:pt x="2211832" y="2115947"/>
                  </a:lnTo>
                  <a:cubicBezTo>
                    <a:pt x="2211832" y="2122932"/>
                    <a:pt x="2206117" y="2128647"/>
                    <a:pt x="2199132" y="2128647"/>
                  </a:cubicBezTo>
                  <a:lnTo>
                    <a:pt x="12700" y="2128647"/>
                  </a:lnTo>
                  <a:cubicBezTo>
                    <a:pt x="5715" y="2128647"/>
                    <a:pt x="0" y="2122932"/>
                    <a:pt x="0" y="211594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947"/>
                  </a:lnTo>
                  <a:lnTo>
                    <a:pt x="12700" y="2115947"/>
                  </a:lnTo>
                  <a:lnTo>
                    <a:pt x="12700" y="2103247"/>
                  </a:lnTo>
                  <a:lnTo>
                    <a:pt x="2199132" y="2103247"/>
                  </a:lnTo>
                  <a:lnTo>
                    <a:pt x="2199132" y="2115947"/>
                  </a:lnTo>
                  <a:lnTo>
                    <a:pt x="2186432" y="2115947"/>
                  </a:lnTo>
                  <a:lnTo>
                    <a:pt x="2186432" y="12700"/>
                  </a:lnTo>
                  <a:lnTo>
                    <a:pt x="2199132" y="12700"/>
                  </a:lnTo>
                  <a:lnTo>
                    <a:pt x="219913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211800" cy="2147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3F3D3D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237401" y="2831265"/>
            <a:ext cx="1658850" cy="1596450"/>
            <a:chOff x="0" y="0"/>
            <a:chExt cx="2211800" cy="2128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11832" cy="2128647"/>
            </a:xfrm>
            <a:custGeom>
              <a:avLst/>
              <a:gdLst/>
              <a:ahLst/>
              <a:cxnLst/>
              <a:rect r="r" b="b" t="t" l="l"/>
              <a:pathLst>
                <a:path h="2128647" w="2211832">
                  <a:moveTo>
                    <a:pt x="12700" y="0"/>
                  </a:moveTo>
                  <a:lnTo>
                    <a:pt x="2199132" y="0"/>
                  </a:lnTo>
                  <a:cubicBezTo>
                    <a:pt x="2206117" y="0"/>
                    <a:pt x="2211832" y="5715"/>
                    <a:pt x="2211832" y="12700"/>
                  </a:cubicBezTo>
                  <a:lnTo>
                    <a:pt x="2211832" y="2115947"/>
                  </a:lnTo>
                  <a:cubicBezTo>
                    <a:pt x="2211832" y="2122932"/>
                    <a:pt x="2206117" y="2128647"/>
                    <a:pt x="2199132" y="2128647"/>
                  </a:cubicBezTo>
                  <a:lnTo>
                    <a:pt x="12700" y="2128647"/>
                  </a:lnTo>
                  <a:cubicBezTo>
                    <a:pt x="5715" y="2128647"/>
                    <a:pt x="0" y="2122932"/>
                    <a:pt x="0" y="211594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115947"/>
                  </a:lnTo>
                  <a:lnTo>
                    <a:pt x="12700" y="2115947"/>
                  </a:lnTo>
                  <a:lnTo>
                    <a:pt x="12700" y="2103247"/>
                  </a:lnTo>
                  <a:lnTo>
                    <a:pt x="2199132" y="2103247"/>
                  </a:lnTo>
                  <a:lnTo>
                    <a:pt x="2199132" y="2115947"/>
                  </a:lnTo>
                  <a:lnTo>
                    <a:pt x="2186432" y="2115947"/>
                  </a:lnTo>
                  <a:lnTo>
                    <a:pt x="2186432" y="12700"/>
                  </a:lnTo>
                  <a:lnTo>
                    <a:pt x="2199132" y="12700"/>
                  </a:lnTo>
                  <a:lnTo>
                    <a:pt x="219913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211800" cy="2147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3F3D3D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7980062" y="3629490"/>
            <a:ext cx="2327928" cy="9525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>
            <a:off x="11928612" y="3629490"/>
            <a:ext cx="2327928" cy="9525"/>
          </a:xfrm>
          <a:prstGeom prst="line">
            <a:avLst/>
          </a:prstGeom>
          <a:ln cap="rnd" w="9525">
            <a:solidFill>
              <a:srgbClr val="31303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10946275" y="7473675"/>
            <a:ext cx="6399450" cy="1934250"/>
            <a:chOff x="0" y="0"/>
            <a:chExt cx="8532600" cy="2579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32622" cy="2578989"/>
            </a:xfrm>
            <a:custGeom>
              <a:avLst/>
              <a:gdLst/>
              <a:ahLst/>
              <a:cxnLst/>
              <a:rect r="r" b="b" t="t" l="l"/>
              <a:pathLst>
                <a:path h="2578989" w="8532622">
                  <a:moveTo>
                    <a:pt x="12700" y="0"/>
                  </a:moveTo>
                  <a:lnTo>
                    <a:pt x="8519922" y="0"/>
                  </a:lnTo>
                  <a:cubicBezTo>
                    <a:pt x="8526907" y="0"/>
                    <a:pt x="8532622" y="5715"/>
                    <a:pt x="8532622" y="12700"/>
                  </a:cubicBezTo>
                  <a:lnTo>
                    <a:pt x="8532622" y="2566289"/>
                  </a:lnTo>
                  <a:cubicBezTo>
                    <a:pt x="8532622" y="2573274"/>
                    <a:pt x="8526907" y="2578989"/>
                    <a:pt x="8519922" y="2578989"/>
                  </a:cubicBezTo>
                  <a:lnTo>
                    <a:pt x="12700" y="2578989"/>
                  </a:lnTo>
                  <a:cubicBezTo>
                    <a:pt x="5715" y="2578989"/>
                    <a:pt x="0" y="2573274"/>
                    <a:pt x="0" y="256628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566289"/>
                  </a:lnTo>
                  <a:lnTo>
                    <a:pt x="12700" y="2566289"/>
                  </a:lnTo>
                  <a:lnTo>
                    <a:pt x="12700" y="2553589"/>
                  </a:lnTo>
                  <a:lnTo>
                    <a:pt x="8519922" y="2553589"/>
                  </a:lnTo>
                  <a:lnTo>
                    <a:pt x="8519922" y="2566289"/>
                  </a:lnTo>
                  <a:lnTo>
                    <a:pt x="8507222" y="2566289"/>
                  </a:lnTo>
                  <a:lnTo>
                    <a:pt x="8507222" y="12700"/>
                  </a:lnTo>
                  <a:lnTo>
                    <a:pt x="8519922" y="12700"/>
                  </a:lnTo>
                  <a:lnTo>
                    <a:pt x="851992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F3D3D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1527272" y="7956320"/>
            <a:ext cx="5098766" cy="968970"/>
          </a:xfrm>
          <a:custGeom>
            <a:avLst/>
            <a:gdLst/>
            <a:ahLst/>
            <a:cxnLst/>
            <a:rect r="r" b="b" t="t" l="l"/>
            <a:pathLst>
              <a:path h="968970" w="5098766">
                <a:moveTo>
                  <a:pt x="0" y="0"/>
                </a:moveTo>
                <a:lnTo>
                  <a:pt x="5098766" y="0"/>
                </a:lnTo>
                <a:lnTo>
                  <a:pt x="5098766" y="968970"/>
                </a:lnTo>
                <a:lnTo>
                  <a:pt x="0" y="968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42425" y="7148362"/>
            <a:ext cx="2609498" cy="2244169"/>
          </a:xfrm>
          <a:custGeom>
            <a:avLst/>
            <a:gdLst/>
            <a:ahLst/>
            <a:cxnLst/>
            <a:rect r="r" b="b" t="t" l="l"/>
            <a:pathLst>
              <a:path h="2244169" w="2609498">
                <a:moveTo>
                  <a:pt x="0" y="0"/>
                </a:moveTo>
                <a:lnTo>
                  <a:pt x="2609498" y="0"/>
                </a:lnTo>
                <a:lnTo>
                  <a:pt x="2609498" y="2244169"/>
                </a:lnTo>
                <a:lnTo>
                  <a:pt x="0" y="2244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34100" y="976975"/>
            <a:ext cx="162204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PSA</a:t>
            </a: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 Process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35702" y="5891065"/>
            <a:ext cx="376575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Process shipment details &amp; calculate optimal shipping routes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83955" y="5891062"/>
            <a:ext cx="376575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Provide the client with optimal route and delivery schedule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35702" y="4975206"/>
            <a:ext cx="376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Process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8598" y="4975206"/>
            <a:ext cx="376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Request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8598" y="5912088"/>
            <a:ext cx="376575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Submits a request for shipping services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287144" y="4975206"/>
            <a:ext cx="376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Pick-up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86851" y="5912088"/>
            <a:ext cx="376575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3F3D3D"/>
                </a:solidFill>
                <a:latin typeface="Hind Medium"/>
                <a:ea typeface="Hind Medium"/>
                <a:cs typeface="Hind Medium"/>
                <a:sym typeface="Hind Medium"/>
              </a:rPr>
              <a:t>Arranges for container pick-up from client’s facility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83955" y="4975200"/>
            <a:ext cx="376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</a:pPr>
            <a:r>
              <a:rPr lang="en-US" sz="38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Suggest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2425" y="878775"/>
            <a:ext cx="16403250" cy="8528850"/>
            <a:chOff x="0" y="0"/>
            <a:chExt cx="21871000" cy="11371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1051" cy="11371834"/>
            </a:xfrm>
            <a:custGeom>
              <a:avLst/>
              <a:gdLst/>
              <a:ahLst/>
              <a:cxnLst/>
              <a:rect r="r" b="b" t="t" l="l"/>
              <a:pathLst>
                <a:path h="11371834" w="21871051">
                  <a:moveTo>
                    <a:pt x="12700" y="0"/>
                  </a:moveTo>
                  <a:lnTo>
                    <a:pt x="21858351" y="0"/>
                  </a:lnTo>
                  <a:cubicBezTo>
                    <a:pt x="21865337" y="0"/>
                    <a:pt x="21871051" y="5715"/>
                    <a:pt x="21871051" y="12700"/>
                  </a:cubicBezTo>
                  <a:lnTo>
                    <a:pt x="21871051" y="11359134"/>
                  </a:lnTo>
                  <a:cubicBezTo>
                    <a:pt x="21871051" y="11366119"/>
                    <a:pt x="21865337" y="11371834"/>
                    <a:pt x="21858351" y="11371834"/>
                  </a:cubicBezTo>
                  <a:lnTo>
                    <a:pt x="12700" y="11371834"/>
                  </a:lnTo>
                  <a:cubicBezTo>
                    <a:pt x="5715" y="11371834"/>
                    <a:pt x="0" y="11366119"/>
                    <a:pt x="0" y="11359134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359134"/>
                  </a:lnTo>
                  <a:lnTo>
                    <a:pt x="12700" y="11359134"/>
                  </a:lnTo>
                  <a:lnTo>
                    <a:pt x="12700" y="11346434"/>
                  </a:lnTo>
                  <a:lnTo>
                    <a:pt x="21858351" y="11346434"/>
                  </a:lnTo>
                  <a:lnTo>
                    <a:pt x="21858351" y="11359134"/>
                  </a:lnTo>
                  <a:lnTo>
                    <a:pt x="21845651" y="11359134"/>
                  </a:lnTo>
                  <a:lnTo>
                    <a:pt x="21845651" y="12700"/>
                  </a:lnTo>
                  <a:lnTo>
                    <a:pt x="21858351" y="12700"/>
                  </a:lnTo>
                  <a:lnTo>
                    <a:pt x="2185835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313030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349195" y="2425989"/>
          <a:ext cx="13589709" cy="6143043"/>
        </p:xfrm>
        <a:graphic>
          <a:graphicData uri="http://schemas.openxmlformats.org/drawingml/2006/table">
            <a:tbl>
              <a:tblPr/>
              <a:tblGrid>
                <a:gridCol w="4529903"/>
                <a:gridCol w="4529903"/>
                <a:gridCol w="4529903"/>
              </a:tblGrid>
              <a:tr h="11591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3F3D3D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Components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3F3D3D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3F3D3D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E2"/>
                    </a:solidFill>
                  </a:tcPr>
                </a:tc>
              </a:tr>
              <a:tr h="14951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3F3D3D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Front-End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3F3D3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Python (Pygame)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3F3D3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Interactive UI showcasing the algorithm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951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3F3D3D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Back-End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3F3D3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Python (Scikit Learn)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3F3D3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Logistic Regression predicting the weights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35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3F3D3D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E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3F3D3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Excel Spreadsheet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3F3D3D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Obtained open source data of PSA Ports and Naval Topology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33850" y="976975"/>
            <a:ext cx="162204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Our Solution (Prototype)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2425" y="878775"/>
            <a:ext cx="16403250" cy="9408225"/>
            <a:chOff x="0" y="0"/>
            <a:chExt cx="21871000" cy="12544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871051" cy="12544334"/>
            </a:xfrm>
            <a:custGeom>
              <a:avLst/>
              <a:gdLst/>
              <a:ahLst/>
              <a:cxnLst/>
              <a:rect r="r" b="b" t="t" l="l"/>
              <a:pathLst>
                <a:path h="12544334" w="21871051">
                  <a:moveTo>
                    <a:pt x="12700" y="0"/>
                  </a:moveTo>
                  <a:lnTo>
                    <a:pt x="21858351" y="0"/>
                  </a:lnTo>
                  <a:cubicBezTo>
                    <a:pt x="21865337" y="0"/>
                    <a:pt x="21871051" y="6304"/>
                    <a:pt x="21871051" y="14009"/>
                  </a:cubicBezTo>
                  <a:lnTo>
                    <a:pt x="21871051" y="12530328"/>
                  </a:lnTo>
                  <a:cubicBezTo>
                    <a:pt x="21871051" y="12538033"/>
                    <a:pt x="21865337" y="12544334"/>
                    <a:pt x="21858351" y="12544334"/>
                  </a:cubicBezTo>
                  <a:lnTo>
                    <a:pt x="12700" y="12544334"/>
                  </a:lnTo>
                  <a:cubicBezTo>
                    <a:pt x="5715" y="12544334"/>
                    <a:pt x="0" y="12538033"/>
                    <a:pt x="0" y="12530328"/>
                  </a:cubicBezTo>
                  <a:lnTo>
                    <a:pt x="0" y="14009"/>
                  </a:lnTo>
                  <a:cubicBezTo>
                    <a:pt x="0" y="6304"/>
                    <a:pt x="5715" y="0"/>
                    <a:pt x="12700" y="0"/>
                  </a:cubicBezTo>
                  <a:moveTo>
                    <a:pt x="12700" y="28019"/>
                  </a:moveTo>
                  <a:lnTo>
                    <a:pt x="12700" y="14009"/>
                  </a:lnTo>
                  <a:lnTo>
                    <a:pt x="25400" y="14009"/>
                  </a:lnTo>
                  <a:lnTo>
                    <a:pt x="25400" y="12530328"/>
                  </a:lnTo>
                  <a:lnTo>
                    <a:pt x="12700" y="12530328"/>
                  </a:lnTo>
                  <a:lnTo>
                    <a:pt x="12700" y="12516318"/>
                  </a:lnTo>
                  <a:lnTo>
                    <a:pt x="21858351" y="12516318"/>
                  </a:lnTo>
                  <a:lnTo>
                    <a:pt x="21858351" y="12530328"/>
                  </a:lnTo>
                  <a:lnTo>
                    <a:pt x="21845651" y="12530328"/>
                  </a:lnTo>
                  <a:lnTo>
                    <a:pt x="21845651" y="14009"/>
                  </a:lnTo>
                  <a:lnTo>
                    <a:pt x="21858351" y="14009"/>
                  </a:lnTo>
                  <a:lnTo>
                    <a:pt x="21858351" y="28019"/>
                  </a:lnTo>
                  <a:lnTo>
                    <a:pt x="12700" y="28019"/>
                  </a:lnTo>
                  <a:close/>
                </a:path>
              </a:pathLst>
            </a:custGeom>
            <a:solidFill>
              <a:srgbClr val="313030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034735" y="2280325"/>
            <a:ext cx="10218629" cy="8204447"/>
            <a:chOff x="0" y="0"/>
            <a:chExt cx="7467600" cy="59956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-1854" t="0" r="-185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18375" y="1236605"/>
            <a:ext cx="13051350" cy="79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000">
                <a:solidFill>
                  <a:srgbClr val="3F3D3D"/>
                </a:solidFill>
                <a:latin typeface="Arimo"/>
                <a:ea typeface="Arimo"/>
                <a:cs typeface="Arimo"/>
                <a:sym typeface="Arimo"/>
              </a:rPr>
              <a:t>Working Example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23121" y="1324281"/>
            <a:ext cx="6140941" cy="7638439"/>
            <a:chOff x="0" y="0"/>
            <a:chExt cx="8187921" cy="1018458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8575"/>
              <a:ext cx="8187921" cy="2441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39"/>
                </a:lnSpc>
              </a:pPr>
              <a:r>
                <a:rPr lang="en-US" sz="63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Relevancy To PSA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272650"/>
              <a:ext cx="8187921" cy="1107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29"/>
                </a:lnSpc>
                <a:spcBef>
                  <a:spcPct val="0"/>
                </a:spcBef>
              </a:pPr>
              <a:r>
                <a:rPr lang="en-US" sz="2449">
                  <a:solidFill>
                    <a:srgbClr val="000000"/>
                  </a:solidFill>
                  <a:latin typeface="Hind"/>
                  <a:ea typeface="Hind"/>
                  <a:cs typeface="Hind"/>
                  <a:sym typeface="Hind"/>
                </a:rPr>
                <a:t>Accurate: Real time data instead of Arbitrary data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6389037"/>
              <a:ext cx="8187921" cy="1107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29"/>
                </a:lnSpc>
                <a:spcBef>
                  <a:spcPct val="0"/>
                </a:spcBef>
              </a:pPr>
              <a:r>
                <a:rPr lang="en-US" sz="2449">
                  <a:solidFill>
                    <a:srgbClr val="000000"/>
                  </a:solidFill>
                  <a:latin typeface="Hind"/>
                  <a:ea typeface="Hind"/>
                  <a:cs typeface="Hind"/>
                  <a:sym typeface="Hind"/>
                </a:rPr>
                <a:t>Efficient: Allows for ports to be utilized to their fullest potential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505423"/>
              <a:ext cx="8187921" cy="1679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29"/>
                </a:lnSpc>
                <a:spcBef>
                  <a:spcPct val="0"/>
                </a:spcBef>
              </a:pPr>
              <a:r>
                <a:rPr lang="en-US" sz="2449">
                  <a:solidFill>
                    <a:srgbClr val="000000"/>
                  </a:solidFill>
                  <a:latin typeface="Hind"/>
                  <a:ea typeface="Hind"/>
                  <a:cs typeface="Hind"/>
                  <a:sym typeface="Hind"/>
                </a:rPr>
                <a:t>Resilient: During crisis that can disrupt operations, the algorithm mitigates the damage</a:t>
              </a:r>
            </a:p>
          </p:txBody>
        </p:sp>
        <p:sp>
          <p:nvSpPr>
            <p:cNvPr name="AutoShape 8" id="8"/>
            <p:cNvSpPr/>
            <p:nvPr/>
          </p:nvSpPr>
          <p:spPr>
            <a:xfrm flipH="true">
              <a:off x="0" y="3232573"/>
              <a:ext cx="8187921" cy="0"/>
            </a:xfrm>
            <a:prstGeom prst="line">
              <a:avLst/>
            </a:prstGeom>
            <a:ln cap="rnd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14350" y="2672320"/>
            <a:ext cx="7531214" cy="4942359"/>
          </a:xfrm>
          <a:custGeom>
            <a:avLst/>
            <a:gdLst/>
            <a:ahLst/>
            <a:cxnLst/>
            <a:rect r="r" b="b" t="t" l="l"/>
            <a:pathLst>
              <a:path h="4942359" w="7531214">
                <a:moveTo>
                  <a:pt x="0" y="0"/>
                </a:moveTo>
                <a:lnTo>
                  <a:pt x="7531214" y="0"/>
                </a:lnTo>
                <a:lnTo>
                  <a:pt x="7531214" y="4942360"/>
                </a:lnTo>
                <a:lnTo>
                  <a:pt x="0" y="49423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0" y="0"/>
                </a:moveTo>
                <a:lnTo>
                  <a:pt x="18288006" y="0"/>
                </a:lnTo>
                <a:lnTo>
                  <a:pt x="18288006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190625" y="5133975"/>
            <a:ext cx="16068675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4981575"/>
            <a:ext cx="323850" cy="323850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317258" y="4972050"/>
            <a:ext cx="323850" cy="32385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5817" y="4972050"/>
            <a:ext cx="323850" cy="32385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894375" y="4972050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471431" y="2449655"/>
            <a:ext cx="2479463" cy="2482566"/>
          </a:xfrm>
          <a:custGeom>
            <a:avLst/>
            <a:gdLst/>
            <a:ahLst/>
            <a:cxnLst/>
            <a:rect r="r" b="b" t="t" l="l"/>
            <a:pathLst>
              <a:path h="2482566" w="2479463">
                <a:moveTo>
                  <a:pt x="0" y="0"/>
                </a:moveTo>
                <a:lnTo>
                  <a:pt x="2479463" y="0"/>
                </a:lnTo>
                <a:lnTo>
                  <a:pt x="2479463" y="2482565"/>
                </a:lnTo>
                <a:lnTo>
                  <a:pt x="0" y="24825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667945" y="2498999"/>
            <a:ext cx="2663551" cy="2383878"/>
          </a:xfrm>
          <a:custGeom>
            <a:avLst/>
            <a:gdLst/>
            <a:ahLst/>
            <a:cxnLst/>
            <a:rect r="r" b="b" t="t" l="l"/>
            <a:pathLst>
              <a:path h="2383878" w="2663551">
                <a:moveTo>
                  <a:pt x="0" y="0"/>
                </a:moveTo>
                <a:lnTo>
                  <a:pt x="2663551" y="0"/>
                </a:lnTo>
                <a:lnTo>
                  <a:pt x="2663551" y="2383877"/>
                </a:lnTo>
                <a:lnTo>
                  <a:pt x="0" y="23838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045996" y="2261357"/>
            <a:ext cx="2670863" cy="2670863"/>
          </a:xfrm>
          <a:custGeom>
            <a:avLst/>
            <a:gdLst/>
            <a:ahLst/>
            <a:cxnLst/>
            <a:rect r="r" b="b" t="t" l="l"/>
            <a:pathLst>
              <a:path h="2670863" w="2670863">
                <a:moveTo>
                  <a:pt x="0" y="0"/>
                </a:moveTo>
                <a:lnTo>
                  <a:pt x="2670863" y="0"/>
                </a:lnTo>
                <a:lnTo>
                  <a:pt x="2670863" y="2670863"/>
                </a:lnTo>
                <a:lnTo>
                  <a:pt x="0" y="26708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62199" y="2287730"/>
            <a:ext cx="2829277" cy="2560495"/>
          </a:xfrm>
          <a:custGeom>
            <a:avLst/>
            <a:gdLst/>
            <a:ahLst/>
            <a:cxnLst/>
            <a:rect r="r" b="b" t="t" l="l"/>
            <a:pathLst>
              <a:path h="2560495" w="2829277">
                <a:moveTo>
                  <a:pt x="0" y="0"/>
                </a:moveTo>
                <a:lnTo>
                  <a:pt x="2829277" y="0"/>
                </a:lnTo>
                <a:lnTo>
                  <a:pt x="2829277" y="2560495"/>
                </a:lnTo>
                <a:lnTo>
                  <a:pt x="0" y="25604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028700"/>
            <a:ext cx="162306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Future Timeline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743575"/>
            <a:ext cx="3364925" cy="136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1: Integration &amp; Data Expansion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193534"/>
            <a:ext cx="3364925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Integrate with global ports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More data collections and analysis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17258" y="5743575"/>
            <a:ext cx="3826745" cy="136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2: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 Predictive Analytics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17258" y="7193534"/>
            <a:ext cx="336492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Enhancing predictive accuracy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Algorithm Optimization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5817" y="5743575"/>
            <a:ext cx="3536636" cy="136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3: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PSA Leadership and Global Influence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5817" y="7193534"/>
            <a:ext cx="3364925" cy="184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PSA as the leading innovator in AI-driven port management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Setting industry standards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894375" y="5743575"/>
            <a:ext cx="4393631" cy="1364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Phase 4: Predictive Maintenance and Ecosystem Expansion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894375" y="7193534"/>
            <a:ext cx="3364925" cy="221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Expansion into predictive maintenance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Global Port Network Ecosystem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PSA as a hub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6" cy="10287002"/>
          </a:xfrm>
          <a:custGeom>
            <a:avLst/>
            <a:gdLst/>
            <a:ahLst/>
            <a:cxnLst/>
            <a:rect r="r" b="b" t="t" l="l"/>
            <a:pathLst>
              <a:path h="10287002" w="18288006">
                <a:moveTo>
                  <a:pt x="18288006" y="0"/>
                </a:moveTo>
                <a:lnTo>
                  <a:pt x="0" y="0"/>
                </a:lnTo>
                <a:lnTo>
                  <a:pt x="0" y="10287002"/>
                </a:lnTo>
                <a:lnTo>
                  <a:pt x="18288006" y="10287002"/>
                </a:lnTo>
                <a:lnTo>
                  <a:pt x="1828800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1679"/>
            <a:ext cx="3633825" cy="88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4561"/>
            <a:ext cx="14573861" cy="321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3" tooltip="https://www.globalpsa.com/global-network/#ports"/>
              </a:rPr>
              <a:t>https://www.globalpsa.com/global-network/#ports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https://mykn.kuehne-nagel.com/news/article/psa-establishes-joint-venture-for-middle-corr-31-May-2023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https://psabdp.com/what-we-do/transportation-services/rail-multimodal-solutions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https://www.channelnewsasia.com/singapore/shipping-delays-freight-rates-containers-ports-asia-singapore-congestion-e-commerce-4371021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lang="en-US" sz="30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https://www.psaannualreport.com/chapter-page/#global-footprint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DAGTVBcLQQs</dc:identifier>
  <dcterms:modified xsi:type="dcterms:W3CDTF">2011-08-01T06:04:30Z</dcterms:modified>
  <cp:revision>1</cp:revision>
  <dc:title>Copy of Packaging and Shipping Business Plan by Slidesgo.pptx</dc:title>
</cp:coreProperties>
</file>